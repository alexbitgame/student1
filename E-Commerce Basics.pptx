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8" r:id="rId4"/>
    <p:sldId id="257" r:id="rId5"/>
    <p:sldId id="259" r:id="rId6"/>
    <p:sldId id="260" r:id="rId7"/>
    <p:sldId id="261" r:id="rId8"/>
    <p:sldId id="262" r:id="rId9"/>
    <p:sldId id="267" r:id="rId10"/>
    <p:sldId id="263" r:id="rId11"/>
    <p:sldId id="264" r:id="rId12"/>
    <p:sldId id="265" r:id="rId13"/>
    <p:sldId id="266"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543"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2098800" y="967680"/>
            <a:ext cx="6792480" cy="1676160"/>
          </a:xfrm>
          <a:prstGeom prst="rect">
            <a:avLst/>
          </a:prstGeom>
          <a:noFill/>
          <a:ln w="0">
            <a:noFill/>
          </a:ln>
        </p:spPr>
        <p:txBody>
          <a:bodyPr lIns="91440" tIns="91440" rIns="91440" bIns="91440" anchor="b">
            <a:noAutofit/>
          </a:bodyPr>
          <a:lstStyle/>
          <a:p>
            <a:pPr indent="0">
              <a:buNone/>
            </a:pPr>
            <a:r>
              <a:rPr lang="fr-FR" sz="5500" b="0" u="none" strike="noStrike">
                <a:solidFill>
                  <a:schemeClr val="dk1"/>
                </a:solidFill>
                <a:effectLst/>
                <a:uFillTx/>
                <a:latin typeface="Arial"/>
              </a:rPr>
              <a:t>Click to edit the title text format</a:t>
            </a:r>
          </a:p>
        </p:txBody>
      </p:sp>
      <p:cxnSp>
        <p:nvCxnSpPr>
          <p:cNvPr id="4" name="Google Shape;11;p2"/>
          <p:cNvCxnSpPr/>
          <p:nvPr/>
        </p:nvCxnSpPr>
        <p:spPr>
          <a:xfrm flipH="1">
            <a:off x="5356080" y="2571480"/>
            <a:ext cx="3788280" cy="360"/>
          </a:xfrm>
          <a:prstGeom prst="straightConnector1">
            <a:avLst/>
          </a:prstGeom>
          <a:ln w="9525">
            <a:solidFill>
              <a:srgbClr val="F3F3F3"/>
            </a:solidFill>
            <a:round/>
          </a:ln>
        </p:spPr>
      </p:cxn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Light"/>
                <a:ea typeface="DM Sans ExtraLight"/>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28600" y="631800"/>
            <a:ext cx="35150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 name="PlaceHolder 2"/>
          <p:cNvSpPr>
            <a:spLocks noGrp="1"/>
          </p:cNvSpPr>
          <p:nvPr>
            <p:ph type="title"/>
          </p:nvPr>
        </p:nvSpPr>
        <p:spPr>
          <a:xfrm>
            <a:off x="4396320" y="4430880"/>
            <a:ext cx="60012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6" name="PlaceHolder 3"/>
          <p:cNvSpPr>
            <a:spLocks noGrp="1"/>
          </p:cNvSpPr>
          <p:nvPr>
            <p:ph type="title"/>
          </p:nvPr>
        </p:nvSpPr>
        <p:spPr>
          <a:xfrm>
            <a:off x="4396320" y="3001320"/>
            <a:ext cx="60012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7" name="PlaceHolder 4"/>
          <p:cNvSpPr>
            <a:spLocks noGrp="1"/>
          </p:cNvSpPr>
          <p:nvPr>
            <p:ph type="title"/>
          </p:nvPr>
        </p:nvSpPr>
        <p:spPr>
          <a:xfrm>
            <a:off x="4396320" y="2214720"/>
            <a:ext cx="59940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8" name="PlaceHolder 5"/>
          <p:cNvSpPr>
            <a:spLocks noGrp="1"/>
          </p:cNvSpPr>
          <p:nvPr>
            <p:ph type="title"/>
          </p:nvPr>
        </p:nvSpPr>
        <p:spPr>
          <a:xfrm>
            <a:off x="4396320" y="3728880"/>
            <a:ext cx="60012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9" name="PlaceHolder 6"/>
          <p:cNvSpPr>
            <a:spLocks noGrp="1"/>
          </p:cNvSpPr>
          <p:nvPr>
            <p:ph type="title"/>
          </p:nvPr>
        </p:nvSpPr>
        <p:spPr>
          <a:xfrm>
            <a:off x="8314920" y="4430880"/>
            <a:ext cx="60012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10" name="PlaceHolder 7"/>
          <p:cNvSpPr>
            <a:spLocks noGrp="1"/>
          </p:cNvSpPr>
          <p:nvPr>
            <p:ph type="title"/>
          </p:nvPr>
        </p:nvSpPr>
        <p:spPr>
          <a:xfrm>
            <a:off x="8314920" y="3001320"/>
            <a:ext cx="60012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11" name="PlaceHolder 8"/>
          <p:cNvSpPr>
            <a:spLocks noGrp="1"/>
          </p:cNvSpPr>
          <p:nvPr>
            <p:ph type="title"/>
          </p:nvPr>
        </p:nvSpPr>
        <p:spPr>
          <a:xfrm>
            <a:off x="8314920" y="2214720"/>
            <a:ext cx="59940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12" name="PlaceHolder 9"/>
          <p:cNvSpPr>
            <a:spLocks noGrp="1"/>
          </p:cNvSpPr>
          <p:nvPr>
            <p:ph type="title"/>
          </p:nvPr>
        </p:nvSpPr>
        <p:spPr>
          <a:xfrm>
            <a:off x="8314920" y="3728880"/>
            <a:ext cx="600120" cy="31032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228600" y="228600"/>
            <a:ext cx="8686080" cy="6980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cxnSp>
        <p:nvCxnSpPr>
          <p:cNvPr id="14" name="Google Shape;66;p14"/>
          <p:cNvCxnSpPr/>
          <p:nvPr/>
        </p:nvCxnSpPr>
        <p:spPr>
          <a:xfrm flipH="1">
            <a:off x="3011400" y="2030040"/>
            <a:ext cx="6163200" cy="360"/>
          </a:xfrm>
          <a:prstGeom prst="straightConnector1">
            <a:avLst/>
          </a:prstGeom>
          <a:ln w="9525">
            <a:solidFill>
              <a:srgbClr val="F3F3F3"/>
            </a:solidFill>
            <a:round/>
          </a:ln>
        </p:spPr>
      </p:cxnSp>
      <p:sp>
        <p:nvSpPr>
          <p:cNvPr id="1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28600" y="228600"/>
            <a:ext cx="5322960" cy="18270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228600" y="2521440"/>
            <a:ext cx="5322960" cy="23929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8"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cxnSp>
        <p:nvCxnSpPr>
          <p:cNvPr id="19" name="Google Shape;71;p15"/>
          <p:cNvCxnSpPr/>
          <p:nvPr/>
        </p:nvCxnSpPr>
        <p:spPr>
          <a:xfrm flipH="1">
            <a:off x="-453600" y="2135520"/>
            <a:ext cx="5529240" cy="360"/>
          </a:xfrm>
          <a:prstGeom prst="straightConnector1">
            <a:avLst/>
          </a:prstGeom>
          <a:ln w="9525">
            <a:solidFill>
              <a:srgbClr val="F3F3F3"/>
            </a:solidFill>
            <a:roun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3308760" y="2163960"/>
            <a:ext cx="67860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22" name="PlaceHolder 2"/>
          <p:cNvSpPr>
            <a:spLocks noGrp="1"/>
          </p:cNvSpPr>
          <p:nvPr>
            <p:ph type="title"/>
          </p:nvPr>
        </p:nvSpPr>
        <p:spPr>
          <a:xfrm>
            <a:off x="243360" y="2163960"/>
            <a:ext cx="67752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23" name="PlaceHolder 3"/>
          <p:cNvSpPr>
            <a:spLocks noGrp="1"/>
          </p:cNvSpPr>
          <p:nvPr>
            <p:ph type="title"/>
          </p:nvPr>
        </p:nvSpPr>
        <p:spPr>
          <a:xfrm>
            <a:off x="6375240" y="2163960"/>
            <a:ext cx="67860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24" name="PlaceHolder 4"/>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228600" y="434232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6" name="PlaceHolder 2"/>
          <p:cNvSpPr>
            <a:spLocks noGrp="1"/>
          </p:cNvSpPr>
          <p:nvPr>
            <p:ph type="title"/>
          </p:nvPr>
        </p:nvSpPr>
        <p:spPr>
          <a:xfrm>
            <a:off x="6053760" y="207072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27" name="PlaceHolder 3"/>
          <p:cNvSpPr>
            <a:spLocks noGrp="1"/>
          </p:cNvSpPr>
          <p:nvPr>
            <p:ph type="title"/>
          </p:nvPr>
        </p:nvSpPr>
        <p:spPr>
          <a:xfrm>
            <a:off x="6053760" y="59256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28" name="PlaceHolder 4"/>
          <p:cNvSpPr>
            <a:spLocks noGrp="1"/>
          </p:cNvSpPr>
          <p:nvPr>
            <p:ph type="title"/>
          </p:nvPr>
        </p:nvSpPr>
        <p:spPr>
          <a:xfrm>
            <a:off x="3381480" y="592560"/>
            <a:ext cx="86400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29" name="PlaceHolder 5"/>
          <p:cNvSpPr>
            <a:spLocks noGrp="1"/>
          </p:cNvSpPr>
          <p:nvPr>
            <p:ph type="title"/>
          </p:nvPr>
        </p:nvSpPr>
        <p:spPr>
          <a:xfrm>
            <a:off x="3381480" y="207072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30" name="PlaceHolder 6"/>
          <p:cNvSpPr>
            <a:spLocks noGrp="1"/>
          </p:cNvSpPr>
          <p:nvPr>
            <p:ph type="title"/>
          </p:nvPr>
        </p:nvSpPr>
        <p:spPr>
          <a:xfrm>
            <a:off x="709200" y="59256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
        <p:nvSpPr>
          <p:cNvPr id="31" name="PlaceHolder 7"/>
          <p:cNvSpPr>
            <a:spLocks noGrp="1"/>
          </p:cNvSpPr>
          <p:nvPr>
            <p:ph type="title"/>
          </p:nvPr>
        </p:nvSpPr>
        <p:spPr>
          <a:xfrm>
            <a:off x="709200" y="207072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DM Sans ExtraLight"/>
                <a:ea typeface="DM Sans ExtraLight"/>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912200" y="768960"/>
            <a:ext cx="4003200" cy="754560"/>
          </a:xfrm>
          <a:prstGeom prst="rect">
            <a:avLst/>
          </a:prstGeom>
          <a:noFill/>
          <a:ln w="0">
            <a:noFill/>
          </a:ln>
        </p:spPr>
        <p:txBody>
          <a:bodyPr lIns="91440" tIns="91440" rIns="91440" bIns="91440" anchor="b">
            <a:noAutofit/>
          </a:bodyPr>
          <a:lstStyle/>
          <a:p>
            <a:pPr indent="0" algn="r">
              <a:lnSpc>
                <a:spcPct val="100000"/>
              </a:lnSpc>
              <a:buNone/>
            </a:pPr>
            <a:r>
              <a:rPr lang="fr-FR" sz="4500" b="0" u="none" strike="noStrike">
                <a:solidFill>
                  <a:schemeClr val="dk1"/>
                </a:solidFill>
                <a:effectLst/>
                <a:uFillTx/>
                <a:latin typeface="DM Sans ExtraLight"/>
                <a:ea typeface="DM Sans ExtraLight"/>
              </a:rPr>
              <a:t>xx%</a:t>
            </a:r>
            <a:endParaRPr lang="fr-FR" sz="4500" b="0" u="none" strike="noStrike">
              <a:solidFill>
                <a:schemeClr val="dk1"/>
              </a:solidFill>
              <a:effectLst/>
              <a:uFillTx/>
              <a:latin typeface="Arial"/>
            </a:endParaRPr>
          </a:p>
        </p:txBody>
      </p:sp>
      <p:sp>
        <p:nvSpPr>
          <p:cNvPr id="33" name="PlaceHolder 2"/>
          <p:cNvSpPr>
            <a:spLocks noGrp="1"/>
          </p:cNvSpPr>
          <p:nvPr>
            <p:ph type="title"/>
          </p:nvPr>
        </p:nvSpPr>
        <p:spPr>
          <a:xfrm>
            <a:off x="228960" y="3058200"/>
            <a:ext cx="4003200" cy="754560"/>
          </a:xfrm>
          <a:prstGeom prst="rect">
            <a:avLst/>
          </a:prstGeom>
          <a:noFill/>
          <a:ln w="0">
            <a:noFill/>
          </a:ln>
        </p:spPr>
        <p:txBody>
          <a:bodyPr lIns="91440" tIns="91440" rIns="91440" bIns="91440" anchor="b">
            <a:noAutofit/>
          </a:bodyPr>
          <a:lstStyle/>
          <a:p>
            <a:pPr indent="0">
              <a:lnSpc>
                <a:spcPct val="100000"/>
              </a:lnSpc>
              <a:buNone/>
            </a:pPr>
            <a:r>
              <a:rPr lang="fr-FR" sz="4500" b="0" u="none" strike="noStrike">
                <a:solidFill>
                  <a:schemeClr val="dk1"/>
                </a:solidFill>
                <a:effectLst/>
                <a:uFillTx/>
                <a:latin typeface="DM Sans ExtraLight"/>
                <a:ea typeface="DM Sans ExtraLight"/>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228600" y="228600"/>
            <a:ext cx="5122440" cy="82944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35" name="Google Shape;104;p20"/>
          <p:cNvSpPr/>
          <p:nvPr/>
        </p:nvSpPr>
        <p:spPr>
          <a:xfrm>
            <a:off x="6557400" y="3947400"/>
            <a:ext cx="2357280" cy="728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Karla"/>
                <a:ea typeface="Karla"/>
              </a:rPr>
              <a:t>CREDITS</a:t>
            </a:r>
            <a:r>
              <a:rPr lang="en" sz="1000" b="0" u="none" strike="noStrike">
                <a:solidFill>
                  <a:schemeClr val="dk1"/>
                </a:solidFill>
                <a:effectLst/>
                <a:uFillTx/>
                <a:latin typeface="Karla Light"/>
                <a:ea typeface="Karla Light"/>
              </a:rPr>
              <a:t>: This presentation template was created by </a:t>
            </a:r>
            <a:r>
              <a:rPr lang="en" sz="1000" b="1" u="sng" strike="noStrike">
                <a:solidFill>
                  <a:schemeClr val="dk1"/>
                </a:solidFill>
                <a:effectLst/>
                <a:uFillTx/>
                <a:latin typeface="Karla"/>
                <a:ea typeface="Karla"/>
                <a:hlinkClick r:id="rId2"/>
              </a:rPr>
              <a:t>Slidesgo</a:t>
            </a:r>
            <a:r>
              <a:rPr lang="en" sz="1000" b="0" u="none" strike="noStrike">
                <a:solidFill>
                  <a:schemeClr val="dk1"/>
                </a:solidFill>
                <a:effectLst/>
                <a:uFillTx/>
                <a:latin typeface="Karla Light"/>
                <a:ea typeface="Karla Light"/>
              </a:rPr>
              <a:t>, and includes icons, infographics &amp; images by </a:t>
            </a:r>
            <a:r>
              <a:rPr lang="en" sz="1000" b="1" u="sng" strike="noStrike">
                <a:solidFill>
                  <a:schemeClr val="dk1"/>
                </a:solidFill>
                <a:effectLst/>
                <a:uFillTx/>
                <a:latin typeface="Karla"/>
                <a:ea typeface="Karla"/>
                <a:hlinkClick r:id="rId3"/>
              </a:rPr>
              <a:t>Freepik</a:t>
            </a:r>
            <a:r>
              <a:rPr lang="en" sz="1000" b="1" u="none" strike="noStrike">
                <a:solidFill>
                  <a:schemeClr val="dk1"/>
                </a:solidFill>
                <a:effectLst/>
                <a:uFillTx/>
                <a:latin typeface="Karla"/>
                <a:ea typeface="Karla"/>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228600" y="465480"/>
            <a:ext cx="6225480" cy="196416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37" name="PlaceHolder 2"/>
          <p:cNvSpPr>
            <a:spLocks noGrp="1"/>
          </p:cNvSpPr>
          <p:nvPr>
            <p:ph type="title"/>
          </p:nvPr>
        </p:nvSpPr>
        <p:spPr>
          <a:xfrm>
            <a:off x="7647120" y="3453120"/>
            <a:ext cx="1267920" cy="896040"/>
          </a:xfrm>
          <a:prstGeom prst="rect">
            <a:avLst/>
          </a:prstGeom>
          <a:noFill/>
          <a:ln w="0">
            <a:noFill/>
          </a:ln>
        </p:spPr>
        <p:txBody>
          <a:bodyPr lIns="91440" tIns="91440" rIns="91440" bIns="91440" anchor="ctr">
            <a:noAutofit/>
          </a:bodyPr>
          <a:lstStyle/>
          <a:p>
            <a:pPr indent="0" algn="r">
              <a:lnSpc>
                <a:spcPct val="100000"/>
              </a:lnSpc>
              <a:buNone/>
            </a:pPr>
            <a:r>
              <a:rPr lang="fr-FR" sz="5000" b="0" u="none" strike="noStrike">
                <a:solidFill>
                  <a:schemeClr val="dk1"/>
                </a:solidFill>
                <a:effectLst/>
                <a:uFillTx/>
                <a:latin typeface="DM Sans ExtraLight"/>
                <a:ea typeface="DM Sans ExtraLight"/>
              </a:rPr>
              <a:t>xx%</a:t>
            </a:r>
            <a:endParaRPr lang="fr-FR" sz="5000" b="0" u="none" strike="noStrike">
              <a:solidFill>
                <a:schemeClr val="dk1"/>
              </a:solidFill>
              <a:effectLst/>
              <a:uFillTx/>
              <a:latin typeface="Arial"/>
            </a:endParaRPr>
          </a:p>
        </p:txBody>
      </p:sp>
      <p:cxnSp>
        <p:nvCxnSpPr>
          <p:cNvPr id="38" name="Google Shape;16;p3"/>
          <p:cNvCxnSpPr/>
          <p:nvPr/>
        </p:nvCxnSpPr>
        <p:spPr>
          <a:xfrm flipH="1">
            <a:off x="0" y="2571480"/>
            <a:ext cx="3825360" cy="360"/>
          </a:xfrm>
          <a:prstGeom prst="straightConnector1">
            <a:avLst/>
          </a:prstGeom>
          <a:ln w="9525">
            <a:solidFill>
              <a:srgbClr val="F3F3F3"/>
            </a:solidFill>
            <a:roun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40" name="PlaceHolder 2"/>
          <p:cNvSpPr>
            <a:spLocks noGrp="1"/>
          </p:cNvSpPr>
          <p:nvPr>
            <p:ph type="body"/>
          </p:nvPr>
        </p:nvSpPr>
        <p:spPr>
          <a:xfrm>
            <a:off x="1211400" y="1963800"/>
            <a:ext cx="7703640" cy="15634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46"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9"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0" name="PlaceHolder 2"/>
          <p:cNvSpPr>
            <a:spLocks noGrp="1"/>
          </p:cNvSpPr>
          <p:nvPr>
            <p:ph type="title"/>
          </p:nvPr>
        </p:nvSpPr>
        <p:spPr>
          <a:xfrm>
            <a:off x="228600" y="228600"/>
            <a:ext cx="2168280" cy="726120"/>
          </a:xfrm>
          <a:prstGeom prst="rect">
            <a:avLst/>
          </a:prstGeom>
          <a:solidFill>
            <a:schemeClr val="lt1"/>
          </a:solid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1" name="Google Shape;112;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3" name="Google Shape;115;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5"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2095560" y="971640"/>
            <a:ext cx="6791040" cy="167616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5500" b="0" u="none" strike="noStrike">
                <a:solidFill>
                  <a:schemeClr val="dk1"/>
                </a:solidFill>
                <a:effectLst/>
                <a:uFillTx/>
                <a:latin typeface="DM Sans ExtraLight"/>
                <a:ea typeface="DM Sans ExtraLight"/>
              </a:rPr>
              <a:t>E-Commerce Basics</a:t>
            </a:r>
            <a:endParaRPr lang="fr-FR" sz="5500" b="0" u="none" strike="noStrike">
              <a:solidFill>
                <a:schemeClr val="dk1"/>
              </a:solidFill>
              <a:effectLst/>
              <a:uFillTx/>
              <a:latin typeface="Arial"/>
            </a:endParaRPr>
          </a:p>
        </p:txBody>
      </p:sp>
      <p:sp>
        <p:nvSpPr>
          <p:cNvPr id="57" name="PlaceHolder 2"/>
          <p:cNvSpPr>
            <a:spLocks noGrp="1"/>
          </p:cNvSpPr>
          <p:nvPr>
            <p:ph type="subTitle"/>
          </p:nvPr>
        </p:nvSpPr>
        <p:spPr>
          <a:xfrm>
            <a:off x="266760" y="4305240"/>
            <a:ext cx="5248080" cy="561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600" b="0" u="none" strike="noStrike">
                <a:solidFill>
                  <a:schemeClr val="dk1"/>
                </a:solidFill>
                <a:effectLst/>
                <a:uFillTx/>
                <a:latin typeface="Karla Light"/>
                <a:ea typeface="Karla Light"/>
              </a:rPr>
              <a:t>Simple Overview for Students</a:t>
            </a:r>
            <a:endParaRPr lang="en-US" sz="1600" b="0" u="none" strike="noStrike">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FFFFFF"/>
              </a:solidFill>
              <a:effectLst/>
              <a:uFillTx/>
              <a:latin typeface="OpenSymbol"/>
            </a:endParaRPr>
          </a:p>
        </p:txBody>
      </p:sp>
      <p:sp>
        <p:nvSpPr>
          <p:cNvPr id="62" name="Rectangle 61"/>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DM Sans ExtraLight"/>
              </a:rPr>
              <a:t>Introduction to E-Commerce</a:t>
            </a:r>
            <a:endParaRPr lang="en-US" sz="4000" b="0" u="none" strike="noStrike">
              <a:solidFill>
                <a:srgbClr val="FFFFFF"/>
              </a:solidFill>
              <a:effectLst/>
              <a:uFillTx/>
              <a:latin typeface="OpenSymbol"/>
            </a:endParaRPr>
          </a:p>
        </p:txBody>
      </p:sp>
      <p:pic>
        <p:nvPicPr>
          <p:cNvPr id="63" name="image697e1bd5295bb" descr="image697e1bd5295c0"/>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Google Shape;166;p30"/>
          <p:cNvPicPr/>
          <p:nvPr/>
        </p:nvPicPr>
        <p:blipFill>
          <a:blip r:embed="rId2">
            <a:alphaModFix amt="60000"/>
          </a:blip>
          <a:srcRect l="24910" t="46081" r="51100"/>
          <a:stretch/>
        </p:blipFill>
        <p:spPr>
          <a:xfrm>
            <a:off x="5715720" y="0"/>
            <a:ext cx="3427920" cy="5143320"/>
          </a:xfrm>
          <a:prstGeom prst="rect">
            <a:avLst/>
          </a:prstGeom>
          <a:noFill/>
          <a:ln w="0">
            <a:noFill/>
          </a:ln>
        </p:spPr>
      </p:pic>
      <p:sp>
        <p:nvSpPr>
          <p:cNvPr id="59" name="PlaceHolder 1"/>
          <p:cNvSpPr>
            <a:spLocks noGrp="1"/>
          </p:cNvSpPr>
          <p:nvPr>
            <p:ph type="title"/>
          </p:nvPr>
        </p:nvSpPr>
        <p:spPr>
          <a:xfrm>
            <a:off x="66675" y="100012"/>
            <a:ext cx="5324040" cy="18284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DM Sans ExtraLight"/>
                <a:ea typeface="DM Sans ExtraLight"/>
              </a:rPr>
              <a:t>Introduction</a:t>
            </a:r>
            <a:endParaRPr lang="fr-FR" sz="3000" b="0" u="none" strike="noStrike">
              <a:solidFill>
                <a:schemeClr val="dk1"/>
              </a:solidFill>
              <a:effectLst/>
              <a:uFillTx/>
              <a:latin typeface="Arial"/>
            </a:endParaRPr>
          </a:p>
        </p:txBody>
      </p:sp>
      <p:sp>
        <p:nvSpPr>
          <p:cNvPr id="60" name="PlaceHolder 2"/>
          <p:cNvSpPr>
            <a:spLocks noGrp="1"/>
          </p:cNvSpPr>
          <p:nvPr>
            <p:ph/>
          </p:nvPr>
        </p:nvSpPr>
        <p:spPr>
          <a:xfrm>
            <a:off x="228600" y="2523960"/>
            <a:ext cx="5324040" cy="2390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dirty="0">
                <a:solidFill>
                  <a:schemeClr val="dk1"/>
                </a:solidFill>
                <a:effectLst/>
                <a:uFillTx/>
                <a:latin typeface="Karla Light"/>
                <a:ea typeface="Karla Light"/>
              </a:rPr>
              <a:t>E-commerce involves buying and selling products or services online. It has transformed how businesses and customers interact, making transactions faster and easier. This presentation will explore the fundamental concepts and types of e-commerce, helping students understand its role in the modern world.</a:t>
            </a:r>
            <a:endParaRPr lang="fr-FR" sz="1400" b="0" u="none" strike="noStrike" dirty="0">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Google Shape;166;p30"/>
          <p:cNvPicPr/>
          <p:nvPr/>
        </p:nvPicPr>
        <p:blipFill>
          <a:blip r:embed="rId2">
            <a:alphaModFix amt="60000"/>
          </a:blip>
          <a:srcRect l="24910" t="46081" r="51100"/>
          <a:stretch/>
        </p:blipFill>
        <p:spPr>
          <a:xfrm>
            <a:off x="5715720" y="0"/>
            <a:ext cx="3427920" cy="5143320"/>
          </a:xfrm>
          <a:prstGeom prst="rect">
            <a:avLst/>
          </a:prstGeom>
          <a:noFill/>
          <a:ln w="0">
            <a:noFill/>
          </a:ln>
        </p:spPr>
      </p:pic>
      <p:sp>
        <p:nvSpPr>
          <p:cNvPr id="65" name="PlaceHolder 1"/>
          <p:cNvSpPr>
            <a:spLocks noGrp="1"/>
          </p:cNvSpPr>
          <p:nvPr>
            <p:ph type="title"/>
          </p:nvPr>
        </p:nvSpPr>
        <p:spPr>
          <a:xfrm>
            <a:off x="228600" y="228600"/>
            <a:ext cx="5324040" cy="18284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DM Sans ExtraLight"/>
                <a:ea typeface="DM Sans ExtraLight"/>
              </a:rPr>
              <a:t>Definition and basic concept</a:t>
            </a:r>
            <a:endParaRPr lang="fr-FR" sz="3000" b="0" u="none" strike="noStrike">
              <a:solidFill>
                <a:schemeClr val="dk1"/>
              </a:solidFill>
              <a:effectLst/>
              <a:uFillTx/>
              <a:latin typeface="Arial"/>
            </a:endParaRPr>
          </a:p>
        </p:txBody>
      </p:sp>
      <p:sp>
        <p:nvSpPr>
          <p:cNvPr id="66" name="PlaceHolder 2"/>
          <p:cNvSpPr>
            <a:spLocks noGrp="1"/>
          </p:cNvSpPr>
          <p:nvPr>
            <p:ph/>
          </p:nvPr>
        </p:nvSpPr>
        <p:spPr>
          <a:xfrm>
            <a:off x="228600" y="2523960"/>
            <a:ext cx="5324040" cy="2390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Karla Light"/>
                <a:ea typeface="Karla Light"/>
              </a:rPr>
              <a:t>E-commerce, or electronic commerce, is the process of conducting business transactions over the internet. It allows consumers to shop from anywhere, anytime, without physical stores. Key elements include online shopping carts, payment gateways, and secure data exchange. This innovation simplifies purchases for both businesses and customers.</a:t>
            </a:r>
            <a:endParaRPr lang="fr-FR"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228600" y="228600"/>
            <a:ext cx="8686440" cy="694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DM Sans ExtraLight"/>
                <a:ea typeface="DM Sans ExtraLight"/>
              </a:rPr>
              <a:t>Types of e-commerce</a:t>
            </a:r>
            <a:endParaRPr lang="fr-FR" sz="3000" b="0" u="none" strike="noStrike">
              <a:solidFill>
                <a:schemeClr val="dk1"/>
              </a:solidFill>
              <a:effectLst/>
              <a:uFillTx/>
              <a:latin typeface="Arial"/>
            </a:endParaRPr>
          </a:p>
        </p:txBody>
      </p:sp>
      <p:sp>
        <p:nvSpPr>
          <p:cNvPr id="68" name="PlaceHolder 2"/>
          <p:cNvSpPr>
            <a:spLocks noGrp="1"/>
          </p:cNvSpPr>
          <p:nvPr>
            <p:ph type="subTitle"/>
          </p:nvPr>
        </p:nvSpPr>
        <p:spPr>
          <a:xfrm>
            <a:off x="3009960" y="2571840"/>
            <a:ext cx="5905080" cy="23428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Karla Light"/>
                <a:ea typeface="Karla Light"/>
              </a:rPr>
              <a:t>There are several types of e-commerce, including B2C (business to consumer), B2B (business to business), C2C (consumer to consumer), and C2B (consumer to business). Each type serves different markets and needs, making e-commerce a versatile and growing sector in global trade.</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0" u="none" strike="noStrike">
                <a:solidFill>
                  <a:schemeClr val="dk1"/>
                </a:solidFill>
                <a:effectLst/>
                <a:uFillTx/>
                <a:latin typeface="DM Sans ExtraLight"/>
              </a:rPr>
              <a:t>Importance in today’s world</a:t>
            </a:r>
            <a:endParaRPr lang="en-US" sz="3000" b="0" u="none" strike="noStrike">
              <a:solidFill>
                <a:srgbClr val="FFFFFF"/>
              </a:solidFill>
              <a:effectLst/>
              <a:uFillTx/>
              <a:latin typeface="OpenSymbol"/>
            </a:endParaRPr>
          </a:p>
        </p:txBody>
      </p:sp>
      <p:sp>
        <p:nvSpPr>
          <p:cNvPr id="70" name="Rectangle 6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Karla Light"/>
              </a:rPr>
              <a:t>E-commerce plays a crucial role in today’s economy by enabling global trade and 24/7 accessibility. It offers convenience to consumers and expands market reach for businesses. With technological advancements, e-commerce promotes faster transactions, reduces costs, and supports diverse industries, making it a key driver of economic growth and innovation worldwide.</a:t>
            </a:r>
            <a:endParaRPr lang="en-US" sz="1200" b="0" u="none" strike="noStrike">
              <a:solidFill>
                <a:srgbClr val="FFFFFF"/>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02</a:t>
            </a:r>
            <a:endParaRPr lang="en-US" sz="5000" b="0" u="none" strike="noStrike">
              <a:solidFill>
                <a:srgbClr val="FFFFFF"/>
              </a:solidFill>
              <a:effectLst/>
              <a:uFillTx/>
              <a:latin typeface="OpenSymbol"/>
            </a:endParaRPr>
          </a:p>
        </p:txBody>
      </p:sp>
      <p:sp>
        <p:nvSpPr>
          <p:cNvPr id="72" name="Rectangle 71"/>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DM Sans ExtraLight"/>
              </a:rPr>
              <a:t>Project Overview</a:t>
            </a:r>
            <a:endParaRPr lang="en-US" sz="4000" b="0" u="none" strike="noStrike">
              <a:solidFill>
                <a:srgbClr val="FFFFFF"/>
              </a:solidFill>
              <a:effectLst/>
              <a:uFillTx/>
              <a:latin typeface="OpenSymbol"/>
            </a:endParaRPr>
          </a:p>
        </p:txBody>
      </p:sp>
      <p:pic>
        <p:nvPicPr>
          <p:cNvPr id="73" name="image697e1bd54653c" descr="image697e1bd546541"/>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64CE-D25C-5D86-233E-4637287CB82F}"/>
              </a:ext>
            </a:extLst>
          </p:cNvPr>
          <p:cNvSpPr>
            <a:spLocks noGrp="1"/>
          </p:cNvSpPr>
          <p:nvPr>
            <p:ph type="title"/>
          </p:nvPr>
        </p:nvSpPr>
        <p:spPr>
          <a:xfrm>
            <a:off x="269140" y="115989"/>
            <a:ext cx="7703640" cy="572400"/>
          </a:xfrm>
        </p:spPr>
        <p:txBody>
          <a:bodyPr/>
          <a:lstStyle/>
          <a:p>
            <a:r>
              <a:rPr lang="en-US" sz="2400" dirty="0"/>
              <a:t>Code used in the program:</a:t>
            </a:r>
          </a:p>
        </p:txBody>
      </p:sp>
      <p:sp>
        <p:nvSpPr>
          <p:cNvPr id="3" name="Text Placeholder 2">
            <a:extLst>
              <a:ext uri="{FF2B5EF4-FFF2-40B4-BE49-F238E27FC236}">
                <a16:creationId xmlns:a16="http://schemas.microsoft.com/office/drawing/2014/main" id="{A8607B25-C0FE-FBA2-BE89-7C2412562227}"/>
              </a:ext>
            </a:extLst>
          </p:cNvPr>
          <p:cNvSpPr>
            <a:spLocks noGrp="1"/>
          </p:cNvSpPr>
          <p:nvPr>
            <p:ph type="body"/>
          </p:nvPr>
        </p:nvSpPr>
        <p:spPr>
          <a:xfrm>
            <a:off x="457200" y="801000"/>
            <a:ext cx="8229240" cy="4018744"/>
          </a:xfrm>
        </p:spPr>
        <p:txBody>
          <a:bodyPr>
            <a:noAutofit/>
          </a:bodyPr>
          <a:lstStyle/>
          <a:p>
            <a:r>
              <a:rPr lang="en-US" sz="1600" dirty="0"/>
              <a:t>HTML : </a:t>
            </a:r>
            <a:r>
              <a:rPr lang="en-US" sz="1600" b="1" dirty="0"/>
              <a:t>HTML (Hypertext Markup Language)</a:t>
            </a:r>
            <a:r>
              <a:rPr lang="en-US" sz="1600" dirty="0"/>
              <a:t> is the standard markup language for creating web pages and web applications. It provides the basic structure of a webpage, which is then enhanced and modified by CSS and JavaScript. Used for Creating the skeleton/content of web pages and Creates interactive forms for user input</a:t>
            </a:r>
          </a:p>
          <a:p>
            <a:endParaRPr lang="en-US" sz="1600" dirty="0"/>
          </a:p>
          <a:p>
            <a:endParaRPr lang="en-US" sz="1600" dirty="0"/>
          </a:p>
          <a:p>
            <a:endParaRPr lang="en-US" sz="1600" dirty="0"/>
          </a:p>
          <a:p>
            <a:r>
              <a:rPr lang="en-US" sz="1600" dirty="0"/>
              <a:t>CSS: CSS is a stylesheet language used to describe the presentation and styling of HTML documents. It controls how web pages look, including layout, colors, fonts, and responsive design. Used for Colors, fonts, spacing, borders and Making websites work on all devices</a:t>
            </a:r>
          </a:p>
          <a:p>
            <a:endParaRPr lang="en-US" sz="1600" dirty="0"/>
          </a:p>
          <a:p>
            <a:endParaRPr lang="en-US" sz="1600" dirty="0"/>
          </a:p>
          <a:p>
            <a:r>
              <a:rPr lang="en-US" sz="1600" dirty="0"/>
              <a:t>JAVASCRIPT:  JavaScript is a versatile, high-level programming language primarily used for creating interactive and dynamic web content. It's one of the core technologies of the World Wide Web, alongside HTML and CSS. used for Dynamically changing HTML/CSS and Real-time input checking</a:t>
            </a:r>
          </a:p>
        </p:txBody>
      </p:sp>
    </p:spTree>
    <p:extLst>
      <p:ext uri="{BB962C8B-B14F-4D97-AF65-F5344CB8AC3E}">
        <p14:creationId xmlns:p14="http://schemas.microsoft.com/office/powerpoint/2010/main" val="1670603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228600" y="228600"/>
            <a:ext cx="8686440" cy="694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DM Sans ExtraLight"/>
                <a:ea typeface="DM Sans ExtraLight"/>
              </a:rPr>
              <a:t>Objectives of the project</a:t>
            </a:r>
            <a:endParaRPr lang="fr-FR" sz="3000" b="0" u="none" strike="noStrike">
              <a:solidFill>
                <a:schemeClr val="dk1"/>
              </a:solidFill>
              <a:effectLst/>
              <a:uFillTx/>
              <a:latin typeface="Arial"/>
            </a:endParaRPr>
          </a:p>
        </p:txBody>
      </p:sp>
      <p:sp>
        <p:nvSpPr>
          <p:cNvPr id="75" name="PlaceHolder 2"/>
          <p:cNvSpPr>
            <a:spLocks noGrp="1"/>
          </p:cNvSpPr>
          <p:nvPr>
            <p:ph type="subTitle"/>
          </p:nvPr>
        </p:nvSpPr>
        <p:spPr>
          <a:xfrm>
            <a:off x="3009960" y="2571840"/>
            <a:ext cx="5905080" cy="23428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Karla Light"/>
                <a:ea typeface="Karla Light"/>
              </a:rPr>
              <a:t>The project aims to develop a user-friendly e-commerce website that simplifies online shopping. Key objectives include enhancing accessibility, improving user experience, and integrating secure payment options. Additionally, it seeks to demonstrate the application of web technologies and database management in real-world business scenarios.</a:t>
            </a:r>
            <a:endParaRPr lang="en-US" sz="1200" b="0" u="none" strike="noStrike">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7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0" u="none" strike="noStrike">
                <a:solidFill>
                  <a:schemeClr val="dk1"/>
                </a:solidFill>
                <a:effectLst/>
                <a:uFillTx/>
                <a:latin typeface="DM Sans ExtraLight"/>
              </a:rPr>
              <a:t>System overview and purpose</a:t>
            </a:r>
            <a:endParaRPr lang="en-US" sz="3000" b="0" u="none" strike="noStrike">
              <a:solidFill>
                <a:srgbClr val="FFFFFF"/>
              </a:solidFill>
              <a:effectLst/>
              <a:uFillTx/>
              <a:latin typeface="OpenSymbol"/>
            </a:endParaRPr>
          </a:p>
        </p:txBody>
      </p:sp>
      <p:sp>
        <p:nvSpPr>
          <p:cNvPr id="77" name="Rectangle 7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Karla Light"/>
              </a:rPr>
              <a:t>This system is designed to facilitate online buying and selling through a streamlined website. It combines front-end interfaces for seamless user interaction with back-end processes that handle inventory, orders, and payments. The purpose is to create a reliable platform that supports efficient and secure e-commerce transactions.</a:t>
            </a:r>
            <a:endParaRPr lang="en-US" sz="1200" b="0" u="none" strike="noStrike">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sz="3000" b="0" u="none" strike="noStrike">
                <a:solidFill>
                  <a:schemeClr val="dk1"/>
                </a:solidFill>
                <a:effectLst/>
                <a:uFillTx/>
                <a:latin typeface="DM Sans ExtraLight"/>
              </a:rPr>
              <a:t>Expected outcomes and benefits</a:t>
            </a:r>
            <a:endParaRPr lang="en-US" sz="3000" b="0" u="none" strike="noStrike">
              <a:solidFill>
                <a:srgbClr val="FFFFFF"/>
              </a:solidFill>
              <a:effectLst/>
              <a:uFillTx/>
              <a:latin typeface="OpenSymbol"/>
            </a:endParaRPr>
          </a:p>
        </p:txBody>
      </p:sp>
      <p:sp>
        <p:nvSpPr>
          <p:cNvPr id="79" name="Rectangle 78"/>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Karla Light"/>
              </a:rPr>
              <a:t>Expected outcomes include a fully functional website with core e-commerce features like product browsing, secure checkout, and order tracking. Benefits encompass improved customer satisfaction, increased sales opportunities, and practical experience in web development. This project also highlights the value of e-commerce in modern business practices.</a:t>
            </a:r>
            <a:endParaRPr lang="en-US" sz="1200" b="0" u="none" strike="noStrike">
              <a:solidFill>
                <a:srgbClr val="FFFFFF"/>
              </a:solidFill>
              <a:effectLst/>
              <a:uFillTx/>
              <a:latin typeface="OpenSymbol"/>
            </a:endParaRPr>
          </a:p>
        </p:txBody>
      </p:sp>
      <p:pic>
        <p:nvPicPr>
          <p:cNvPr id="80" name="image697e1bd55c4e6" descr="image697e1bd55c4eb"/>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228600" y="228600"/>
            <a:ext cx="8686440" cy="694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DM Sans ExtraLight"/>
                <a:ea typeface="DM Sans ExtraLight"/>
              </a:rPr>
              <a:t>Conclusions</a:t>
            </a:r>
            <a:endParaRPr lang="fr-FR" sz="3000" b="0" u="none" strike="noStrike">
              <a:solidFill>
                <a:schemeClr val="dk1"/>
              </a:solidFill>
              <a:effectLst/>
              <a:uFillTx/>
              <a:latin typeface="Arial"/>
            </a:endParaRPr>
          </a:p>
        </p:txBody>
      </p:sp>
      <p:sp>
        <p:nvSpPr>
          <p:cNvPr id="82" name="PlaceHolder 2"/>
          <p:cNvSpPr>
            <a:spLocks noGrp="1"/>
          </p:cNvSpPr>
          <p:nvPr>
            <p:ph type="subTitle"/>
          </p:nvPr>
        </p:nvSpPr>
        <p:spPr>
          <a:xfrm>
            <a:off x="3009960" y="2571840"/>
            <a:ext cx="5905080" cy="23428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Karla Light"/>
                <a:ea typeface="Karla Light"/>
              </a:rPr>
              <a:t>This project successfully illustrates the fundamentals and impact of e-commerce in today’s digital landscape. It emphasizes the benefits of online shopping platforms for both users and businesses while identifying future enhancements. Overall, the system enhances understanding of technological integration in commerce and its growing importance globally.</a:t>
            </a:r>
            <a:endParaRPr lang="en-US" sz="1200" b="0" u="none" strike="noStrike">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TotalTime>
  <Words>616</Words>
  <Application>Microsoft Office PowerPoint</Application>
  <PresentationFormat>On-screen Show (16:9)</PresentationFormat>
  <Paragraphs>31</Paragraphs>
  <Slides>12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Arial</vt:lpstr>
      <vt:lpstr>Calibri</vt:lpstr>
      <vt:lpstr>DM Sans ExtraLight</vt:lpstr>
      <vt:lpstr>Karla</vt:lpstr>
      <vt:lpstr>Karla Light</vt:lpstr>
      <vt:lpstr>OpenSymbol</vt:lpstr>
      <vt:lpstr>Symbol</vt:lpstr>
      <vt:lpstr>Wingdings</vt:lpstr>
      <vt:lpstr>Secret Service by Slidesgo</vt:lpstr>
      <vt:lpstr>Slidesgo Final Pages</vt:lpstr>
      <vt:lpstr>E-Commerce Basics</vt:lpstr>
      <vt:lpstr>PowerPoint Presentation</vt:lpstr>
      <vt:lpstr>Introduction</vt:lpstr>
      <vt:lpstr>Definition and basic concept</vt:lpstr>
      <vt:lpstr>Types of e-commerce</vt:lpstr>
      <vt:lpstr>PowerPoint Presentation</vt:lpstr>
      <vt:lpstr>PowerPoint Presentation</vt:lpstr>
      <vt:lpstr>Code used in the program:</vt:lpstr>
      <vt:lpstr>Objectives of the project</vt:lpstr>
      <vt:lpstr>PowerPoint Presentation</vt:lpstr>
      <vt:lpstr>PowerPoint Presentation</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Shrestha</cp:lastModifiedBy>
  <cp:revision>5</cp:revision>
  <dcterms:modified xsi:type="dcterms:W3CDTF">2026-02-07T14:38:10Z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2026-01-31T15:12:14Z</dcterms:created>
  <dc:creator>Unknown Creator</dc:creator>
  <dc:description/>
  <dc:language>en-US</dc:language>
  <cp:lastModifiedBy>Unknown Creator</cp:lastModifiedBy>
  <dcterms:modified xsi:type="dcterms:W3CDTF">2026-01-31T15:12:14Z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